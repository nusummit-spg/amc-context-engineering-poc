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HDFC Asset Management Company Limited Q2 review. Today we present our operational highlights and financial results filed with BSE and 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detailed in our regulatory filing, our actively managed equity AUM continues to outpace broader industry benchmarks.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multi-channel reach and aggressive investments in digital partner portals ensure friction-free investor onboarding.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Financial efficiency remains a core hallmark of HDFC AMC, underpinned by disciplined cost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Governance and regulatory adherence are overseen by independent committees of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14284B"/>
                </a:solidFill>
              </a:defRPr>
            </a:pPr>
            <a:r>
              <a:t>HDFC AMC: Market Position &amp; Franchise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Leading asset manager in India with multi-decade track record of consistent investment performance.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Quarterly Average AUM (QAAUM) stands at over INR 6.8 Lakh Crores.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Operating profit from core asset management operations grew 18.1% YoY.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Equity-oriented assets constitute 57.6% of total AUM, driving high operating margins.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14284B"/>
                </a:solidFill>
              </a:defRPr>
            </a:pPr>
            <a:r>
              <a:t>Asset Under Management Breakdown (HDFC Mutual Fund)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Strongest franchise in actively managed equity strategies and retail SIP market share.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Systematic Investment Plan (SIP) monthly transaction volume crossed INR 2,240 Crores.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3474720"/>
          <a:ext cx="7680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Asset Category</a:t>
                      </a:r>
                    </a:p>
                  </a:txBody>
                  <a:tcPr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AUM (INR Crores)</a:t>
                      </a:r>
                    </a:p>
                  </a:txBody>
                  <a:tcPr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Share of Total (%)</a:t>
                      </a:r>
                    </a:p>
                  </a:txBody>
                  <a:tcPr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YoY Growth (%)</a:t>
                      </a:r>
                    </a:p>
                  </a:txBody>
                  <a:tcPr>
                    <a:solidFill>
                      <a:srgbClr val="1428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Equity Oriented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391,680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+28.4%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Fixed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152,320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+8.2%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Liquid &amp; Money 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96,560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+5.1%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Arbitrage &amp; 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39,440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+14.6%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14284B"/>
                </a:solidFill>
              </a:defRPr>
            </a:pPr>
            <a:r>
              <a:t>Distribution Architecture and Digital Inflows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Multi-channel distribution network spanning 240+ branches, 85,000+ MFD partners, and national banks.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Over 88% of retail transaction volume processed through digital platforms (HDFC MF Online, MF Central).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Beyond-30 (B-30) cities contribute over 18% of total retail inflows.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GIFT City IFSC wholly-owned subsidiary established for international client advisory.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14284B"/>
                </a:solidFill>
              </a:defRPr>
            </a:pPr>
            <a:r>
              <a:t>Financial Performance &amp; Profitability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Revenue from operations reached INR 643.1 Crores for the quarter.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Operating profit margin maintained at an industry-leading 75%.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Return on Equity (RoE) annualized exceeds 28%.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Zero debt on balance sheet with substantial liquid corporate cash investments.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14284B"/>
                </a:solidFill>
              </a:defRPr>
            </a:pPr>
            <a:r>
              <a:t>Governance &amp; Regulatory Compliance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Strict adherence to SEBI Seventh Schedule single-issuer and single-group exposure limits.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Independent Valuation Committee ensuring fair valuation under SEBI Eighth Schedule.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Full implementation of SEBI Institutional Mechanism for deterrence of front-running and market abuse.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Robust stewardship and voting disclosures published quarterly on official portal.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