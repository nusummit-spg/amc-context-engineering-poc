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UTI AMC investor presentation. We review our operational milestones and retirement solutions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Retirement assets provide sticky, long-tenor capital that complements our active domestic mutual fund schemes.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digital investments continue to lower the cost-to-serve while expanding distribution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 AMC remains committed to the highest standards of stewardship and investor protection.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4284B"/>
                </a:solidFill>
              </a:defRPr>
            </a:pPr>
            <a:r>
              <a:t>UTI AMC: Corporate Overview &amp; Heritage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India's pioneer asset manager, managing public savings since 1963.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Total group AUM exceeds INR 18 Lakh Crores across Mutual Fund, Retirement Solutions (NPS), and International mandates.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Listed on both National Stock Exchange (NSE: UTIAMC) and BSE (BSE: 543238).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Recognized for robust governance and fiduciary responsibility.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4284B"/>
                </a:solidFill>
              </a:defRPr>
            </a:pPr>
            <a:r>
              <a:t>Group AUM Distribution (Mutual Fund vs Retirement)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UTI Retirement Solutions is the largest manager of National Pension System (NPS) assets in India.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3474720"/>
          <a:ext cx="7680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Entity / Business Line</a:t>
                      </a:r>
                    </a:p>
                  </a:txBody>
                  <a:tcPr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AUM (INR Cr)</a:t>
                      </a:r>
                    </a:p>
                  </a:txBody>
                  <a:tcPr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Share of Group (%)</a:t>
                      </a:r>
                    </a:p>
                  </a:txBody>
                  <a:tcPr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Regulatory Body</a:t>
                      </a:r>
                    </a:p>
                  </a:txBody>
                  <a:tcPr>
                    <a:solidFill>
                      <a:srgbClr val="1428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UTI Mutual Fund (Domestic)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284,000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SEBI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UTI Retirement Solutions (NPS)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245,000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PFRDA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UTI International (Offshore)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32,000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FSC / CBI / GIFT City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UTI Capital (AIF)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4,500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SEBI (AIF Regs)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4284B"/>
                </a:solidFill>
              </a:defRPr>
            </a:pPr>
            <a:r>
              <a:t>Digital Transformation and Cost Rationalization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Operating cost ratio improved by 45 basis points over trailing 24 months.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UTI Buddy app for distributors enables instant paperless client transaction authorization.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Direct-to-consumer digital channels generate 34% of new scheme transactions.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Automation of portfolio rebalancing and trade surveillance.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4284B"/>
                </a:solidFill>
              </a:defRPr>
            </a:pPr>
            <a:r>
              <a:t>Commitment to ESG &amp; Stewardship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Signatory to UN Principles for Responsible Investment (UN-PRI).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Voting and stewardship policy actively published with quarterly voting rationalize disclosures.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Zero regulatory penalties or governance infractions in FY24-25.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